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63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66344" y="381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SOCIAL MEDIA SEARCH AND ANALYSIS  ·  2025 /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562356" y="1920240"/>
            <a:ext cx="612648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14884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Coordinated Propaganda Networks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243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Russian-Language Telegram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" y="4612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 Okulov</a:t>
            </a:r>
            <a:r>
              <a:rPr lang="en-US" sz="15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Shvetsova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0" y="1325880"/>
            <a:ext cx="4917440" cy="42976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graph_A_forw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884" y="1731508"/>
            <a:ext cx="4302760" cy="3511052"/>
          </a:xfrm>
          <a:prstGeom prst="rect">
            <a:avLst/>
          </a:prstGeom>
        </p:spPr>
      </p:pic>
      <p:sp>
        <p:nvSpPr>
          <p:cNvPr id="17" name="Shape 7">
            <a:extLst>
              <a:ext uri="{FF2B5EF4-FFF2-40B4-BE49-F238E27FC236}">
                <a16:creationId xmlns:a16="http://schemas.microsoft.com/office/drawing/2014/main" id="{347E0088-DDD6-A229-C0EA-6BDC0FC8DAEF}"/>
              </a:ext>
            </a:extLst>
          </p:cNvPr>
          <p:cNvSpPr/>
          <p:nvPr/>
        </p:nvSpPr>
        <p:spPr>
          <a:xfrm flipV="1">
            <a:off x="562356" y="4272280"/>
            <a:ext cx="6126480" cy="45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tell this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099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74520" y="1764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74520" y="22219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Russian political Telegram, and what we set out to find.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7099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98080" y="1764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collected 410K messages without a Telegram account.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81528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19125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87452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74520" y="37033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talks to whom </a:t>
            </a:r>
            <a:r>
              <a:rPr lang="ru-RU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communities, echo chambers, bridges.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081528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19125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49808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coordination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37033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signs of orchestrated, inauthentic behaviour.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1874520" y="4727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content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74520" y="51846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say </a:t>
            </a:r>
            <a:r>
              <a:rPr lang="ru-RU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emotion, entities, topics, and framing.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562856"/>
            <a:ext cx="5349240" cy="128016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467258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7498080" y="4727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payoff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0" y="51846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Pseudo-neutral propaganda and what it all means.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 is the dominant platform for Russian-language political discourse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1450" dirty="0">
                <a:solidFill>
                  <a:schemeClr val="bg1"/>
                </a:solidFill>
              </a:rPr>
              <a:t>State media, independent outlets, military bloggers and opposition channels all broadcast and re-publish each other on the same platform. </a:t>
            </a: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whether that activity is coordinated, and how the camps differ.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257800" cy="1234440"/>
          </a:xfrm>
          <a:prstGeom prst="rect">
            <a:avLst/>
          </a:prstGeom>
          <a:solidFill>
            <a:srgbClr val="24365B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57400" y="33375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communities exist, and do they match political alignment?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3200400"/>
            <a:ext cx="5257800" cy="1234440"/>
          </a:xfrm>
          <a:prstGeom prst="rect">
            <a:avLst/>
          </a:prstGeom>
          <a:solidFill>
            <a:srgbClr val="24365B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33832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589520" y="33375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measurable signs of coordinated behaviour?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257800" cy="1234440"/>
          </a:xfrm>
          <a:prstGeom prst="rect">
            <a:avLst/>
          </a:prstGeom>
          <a:solidFill>
            <a:srgbClr val="24365B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57400" y="47548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content — tone, emotion, topics, entities — differ?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4617720"/>
            <a:ext cx="5257800" cy="1234440"/>
          </a:xfrm>
          <a:prstGeom prst="rect">
            <a:avLst/>
          </a:prstGeom>
          <a:solidFill>
            <a:srgbClr val="24365B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48006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589520" y="47548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bridge otherwise separate bubbles?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the corpus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554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channels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hand-labelled by lean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1554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66420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~410K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42900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 months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554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66420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743K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&amp; normalised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606040" cy="1554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06840" y="166420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8,600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006840" y="23957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70662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channels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028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- no account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324096"/>
            <a:ext cx="52120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parse the public web previews 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t.me/s/&lt;channel&gt;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resume-safe, proxy-rotating scraper.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5440680" cy="2514600"/>
          </a:xfrm>
          <a:prstGeom prst="rect">
            <a:avLst/>
          </a:prstGeom>
          <a:solidFill>
            <a:srgbClr val="F6F2E9"/>
          </a:solidFill>
          <a:ln w="1905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· LABELLING IS NOT TRIVIAL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93192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1300" dirty="0"/>
              <a:t>Three channels' self-descriptions did not match their actual content profile: one labels itself as fact-checking but publishes predominantly one-sided commentary, and two present as Ukrainian-perspective channels but consistently align with a different editorial line. This motivated a two-pass labelling scheme where we verified the initial category assignment against actual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lenses: structure and content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</a:t>
            </a:r>
            <a:r>
              <a:rPr lang="ru-RU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talks to whom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257800" cy="93268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9728" cy="9326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A · Forwarding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386584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Directed. B forwards A's post — the most direct flow of information.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5257800" cy="93268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109728" cy="9326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68680" y="3136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B · URL co-sharing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Undirected. Two channels post the same link — latent coordination.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5257800" cy="93268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109728" cy="9326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68680" y="42153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C · Temporal co-posting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54456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link within 30 minutes — synchronised publishing.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</a:t>
            </a:r>
            <a:r>
              <a:rPr lang="ru-RU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say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285232" cy="786384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109728" cy="786384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20391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&amp; Emotion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3500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RuBERT models over all 408K messages.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2880360"/>
            <a:ext cx="5285232" cy="786384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109728" cy="786384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492240" y="29535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 + entity networks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3264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extracts actors; we map how each side links them.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3794760"/>
            <a:ext cx="5285232" cy="786384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109728" cy="786384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6492240" y="3867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&amp; word clouds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178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+ TF-IDF surface distinctive themes.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4709160"/>
            <a:ext cx="5285232" cy="786384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6263640" y="4709160"/>
            <a:ext cx="109728" cy="786384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6492240" y="4782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92240" y="5093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flags propaganda techniques &amp; framing.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map split in two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· RQ1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6126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raph_A_forw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49" y="1508760"/>
            <a:ext cx="5602941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graph shows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040880" y="20574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Pro-Kremlin channels (red) form a dense, mutually-reinforcing core. Anti-Kremlin channels (blue) sit apart, in their own region.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top channels by PageRank is pro-Kremlin </a:t>
            </a:r>
            <a:r>
              <a:rPr lang="ru-RU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amplify each other.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opposition broadcaster's regional desks forward almost only among themselves </a:t>
            </a:r>
            <a:r>
              <a:rPr lang="ru-RU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visibly isolated.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40880" y="5074920"/>
            <a:ext cx="4572000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223760" y="5138928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written into behavior 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can see the politics in the wiring.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random - echo chambers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27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249" y="1554480"/>
            <a:ext cx="9246742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148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the real network to two synthetic ones of the same size: random (Erdős–Rényi) and hub-driven (Barabási–Albert).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892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network is heavy-tailed — a few hubs dominate, like a scale-free graph.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far more clustered than either model — the fingerprint of tight in-groups.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80960" y="4114800"/>
            <a:ext cx="3886200" cy="1965960"/>
          </a:xfrm>
          <a:prstGeom prst="rect">
            <a:avLst/>
          </a:prstGeom>
          <a:solidFill>
            <a:srgbClr val="F6F2E9"/>
          </a:solidFill>
          <a:ln w="1905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0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COEFFICIENT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63840" y="45262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863840" y="5349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a random graph (0.05) and ~2× a hub model (0.13). Channels don't just follow hubs - everyone forwards everyone.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 - and the rare bridge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· RQ1 &amp; RQ4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ommunities_louv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06" y="1508760"/>
            <a:ext cx="4841588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0" y="2484120"/>
            <a:ext cx="5623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ego_networks_brid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067576"/>
            <a:ext cx="5623560" cy="11190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554480"/>
            <a:ext cx="5623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0.63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- 43 communities, agreeing with our labels at NMI 0.36. The split is real, but finer than pro/anti: voenkory, officials and analysts each cluster.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943600" y="4980432"/>
            <a:ext cx="5623560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126480" y="49987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spotted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Politjoystic links all four camps; Solovyov only looks central — his ties stay inside the pro core.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of coordination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· RQ2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oordin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9397"/>
            <a:ext cx="5029200" cy="44307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15544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every channel pair on forwarding, shared links, timing and near-duplicate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97880" y="2377440"/>
            <a:ext cx="5669280" cy="84124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432304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8,600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46720" y="24323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posts copied across different channels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97880" y="3337560"/>
            <a:ext cx="5669280" cy="84124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3392424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046720" y="339242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posting the same link within 30 minutes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97880" y="4297680"/>
            <a:ext cx="5669280" cy="841248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4352544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 pairs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046720" y="435254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↔ its spokesperson; military ↔ TV propagandist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97880" y="5349240"/>
            <a:ext cx="5669280" cy="7315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80760" y="5394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diagonal = within-group;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flags hidden cross-group coordination.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camps feel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· RQ3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754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emotion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5480"/>
            <a:ext cx="4754880" cy="41985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0" y="1554480"/>
            <a:ext cx="6080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sentiment_by_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1554480"/>
            <a:ext cx="4169664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4343400"/>
            <a:ext cx="6080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Anti-Kremlin = anger.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68% of their emotional posts are angry. Pro-Kremlin is more balanced - aggression mixed with triumphalism.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0" y="5257800"/>
            <a:ext cx="6080760" cy="868680"/>
          </a:xfrm>
          <a:prstGeom prst="rect">
            <a:avLst/>
          </a:prstGeom>
          <a:solidFill>
            <a:srgbClr val="F6F2E9"/>
          </a:solidFill>
          <a:ln w="1905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5669280" y="532180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pro-Kremlin channels carry the 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negative-sentiment rate (4.0%) - yet 95% of all posts read as “neutral” to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events, different stories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· RQ3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27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entity_cooccurrence_pro_vs_an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416" y="1554480"/>
            <a:ext cx="6220408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43484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orbit Trump and Putin</a:t>
            </a:r>
            <a:r>
              <a:rPr lang="ru-RU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wire them to different worlds.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links military actors (the Ukrainian army, Akhmat, MoD) to politics; the network is denser.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foregrounds media (Reuters, Dozhd) and security services (FSB).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78040" y="4434840"/>
            <a:ext cx="4389120" cy="1645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6092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CONFIRM 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4892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Ukrainian-language topic is 46% of anti content but ~2% of pro. </a:t>
            </a:r>
            <a:r>
              <a:rPr lang="en-US" sz="1400" dirty="0">
                <a:solidFill>
                  <a:schemeClr val="bg2"/>
                </a:solidFill>
              </a:rPr>
              <a:t>The topic structure aligns with political lean beyond the shared news agenda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payoff: pseudo-neutral propaganda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· RQ3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760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llm_propaganda_techni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3560"/>
            <a:ext cx="5760720" cy="384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600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a language model to flag propaganda techniques on a sample.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29400" y="2377440"/>
            <a:ext cx="4937760" cy="1234440"/>
          </a:xfrm>
          <a:prstGeom prst="rect">
            <a:avLst/>
          </a:prstGeom>
          <a:solidFill>
            <a:srgbClr val="F6F2E9"/>
          </a:solidFill>
          <a:ln w="1905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12280" y="2487168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vs 5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language in pro- vs anti-Kremlin posts. Appeal to fear is almost only pro (7 vs 1).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 is the twist: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4160" y="3948176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very posts the sentiment model called “neutral.” </a:t>
            </a:r>
            <a:r>
              <a:rPr lang="en-US" sz="1400" dirty="0"/>
              <a:t>This suggests that formal, news-like register can carry rhetorical techniques that automated sentiment classifiers do not detect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stays inside the camp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6949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A8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sankey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3060"/>
            <a:ext cx="6949440" cy="434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Forwarding between groups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18120" y="21945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→ pro dominates everything else.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→ anti is a distant second.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 ↔ anti flow is negligible.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18120" y="4297680"/>
            <a:ext cx="3749040" cy="1737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8001000" y="443484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(Section 2) and the content (Section 3) tell one story: two sealed echo chambers, with coordination concentrated inside the larger one.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68096"/>
            <a:ext cx="146304" cy="38404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7132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Answering the four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 ·  Coordinated Propaganda Networks in Russian Telegram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3825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2A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03520" cy="201168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303520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 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sealed camps; finer sub-clusters inside each. Structure mirrors politics (NMI 0.36).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03520" cy="201168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6002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 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- 8,600 copies, synchronous posting, institutional mirror pairs,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presemt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both camps.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03520" cy="201168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03520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 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400" dirty="0"/>
              <a:t>Anti channels show dominant anger; pro channels use a formal register where LLM annotation detects more rhetorical techniques. Different actor-networks and topics across groups.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03520" cy="2011680"/>
          </a:xfrm>
          <a:prstGeom prst="rect">
            <a:avLst/>
          </a:prstGeom>
          <a:solidFill>
            <a:srgbClr val="F6F2E9"/>
          </a:solidFill>
          <a:ln w="12700">
            <a:solidFill>
              <a:srgbClr val="DED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03520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  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Rare. Politjoystic is the only true cross-camp connector; apparent hubs stay within their side.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640080" cy="109728"/>
          </a:xfrm>
          <a:prstGeom prst="rect">
            <a:avLst/>
          </a:prstGeom>
          <a:solidFill>
            <a:srgbClr val="C2A8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2A8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d7287e1-be11-4717-96b2-487375b3f33e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1244</Words>
  <Application>Microsoft Office PowerPoint</Application>
  <PresentationFormat>Widescreen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Coordinated Propaganda Networks in Russian Telegram</dc:title>
  <dc:subject>PptxGenJS Presentation</dc:subject>
  <dc:creator>Maksim Okulov, Valentina Shvetsova</dc:creator>
  <cp:lastModifiedBy>SHVETSOVA Valentina</cp:lastModifiedBy>
  <cp:revision>3</cp:revision>
  <dcterms:created xsi:type="dcterms:W3CDTF">2026-06-06T13:22:19Z</dcterms:created>
  <dcterms:modified xsi:type="dcterms:W3CDTF">2026-06-06T16:49:02Z</dcterms:modified>
</cp:coreProperties>
</file>